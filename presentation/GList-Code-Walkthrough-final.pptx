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2192000" cy="6858000" type="screen16x9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>
      <a:defRPr sz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/>
          <p:nvPr>
            <p:ph type="sldImg"/>
          </p:nvPr>
        </p:nvSpPr>
        <p:spPr/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/>
          <a:lstStyle/>
          <a:p>
            <a:r>
              <a:rPr lang="zh-CN" sz="1200" dirty="0"/>
              <a:t>开场 30 秒：今天不逐行念代码，而是沿着三个问题走——一个结点怎么表示两种东西？一串整数怎么长成一条 GList？两条 GList 又怎么判等？最后我会指出题给代码缺失的一环，并给出讲解用的补全版本。</a:t>
            </a:r>
            <a:endParaRPr lang="zh-CN" sz="1200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/>
          <p:nvPr>
            <p:ph type="sldImg"/>
          </p:nvPr>
        </p:nvSpPr>
        <p:spPr/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/>
          <a:lstStyle/>
          <a:p>
            <a:r>
              <a:rPr lang="zh-CN" sz="1200" dirty="0"/>
              <a:t>给听众一张地图：结构页先建立‘结点是什么’的共同语言；构造页解释输入如何变成链；判等页讲 IsEqual 的设计。特别提醒：原代码只有声明，没有函数体，所以这是一段需要补全的题目代码，不能假装它已经能跑。</a:t>
            </a:r>
            <a:endParaRPr lang="zh-CN" sz="1200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/>
          <p:nvPr>
            <p:ph type="sldImg"/>
          </p:nvPr>
        </p:nvSpPr>
        <p:spPr/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/>
          <a:lstStyle/>
          <a:p>
            <a:r>
              <a:rPr lang="zh-CN" sz="1200" dirty="0"/>
              <a:t>按图中 01–04 讲：tag 是解释开关；Position 与 GList 都是结点指针；union 共用一块内存，同一时刻只存 data 或 sub_list；next 只负责同级前进，进入子表要靠 sub_list。强调 C 的 union 不是同时保存两个字段。</a:t>
            </a:r>
            <a:endParaRPr lang="zh-CN" sz="1200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/>
          <p:nvPr>
            <p:ph type="sldImg"/>
          </p:nvPr>
        </p:nvSpPr>
        <p:spPr/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/>
          <a:lstStyle/>
          <a:p>
            <a:r>
              <a:rPr lang="zh-CN" sz="1200" dirty="0"/>
              <a:t>用 ((10,20),30) 走图：GList L 只是首结点地址；顶层的 next 从 sublist 结点走到 data=30；sublist 结点用 u.sub_list 下钻到 10→20 的子表链。两条链都是 next 链，区别只在 tag 和从哪个指针进入。</a:t>
            </a:r>
            <a:endParaRPr lang="zh-CN" sz="1200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/>
          <p:nvPr>
            <p:ph type="sldImg"/>
          </p:nvPr>
        </p:nvSpPr>
        <p:spPr/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/>
          <a:lstStyle/>
          <a:p>
            <a:r>
              <a:rPr lang="zh-CN" sz="1200" dirty="0"/>
              <a:t>按 01–05 讲：先建临时头结点，tail 始终指向链尾；k=0 读 data，k&gt;0 就递归 BuildList(k)；新结点用 tail-&gt;next 尾插，最后释放临时头并返回真正的首结点。可以顺带指出：输入协议和链表结构是通过 k 的取值对应起来的。</a:t>
            </a:r>
            <a:endParaRPr lang="zh-CN" sz="1200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/>
          <p:nvPr>
            <p:ph type="sldImg"/>
          </p:nvPr>
        </p:nvSpPr>
        <p:spPr/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/>
          <a:lstStyle/>
          <a:p>
            <a:r>
              <a:rPr lang="zh-CN" sz="1200" dirty="0"/>
              <a:t>完整记号串是 2 2 0 10 0 20 0 30。第一层的 2 是 main 读到的 n；第二个 2 是顶层第一个结点：它是子表，含 2 个结点；随后读 0 10、0 20 建子表；回到顶层再读 0 30。强调：输入顺序由递归调用栈决定，不是按括号顺序读。</a:t>
            </a:r>
            <a:endParaRPr lang="zh-CN" sz="1200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/>
          <p:nvPr>
            <p:ph type="sldImg"/>
          </p:nvPr>
        </p:nvSpPr>
        <p:spPr/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/>
          <a:lstStyle/>
          <a:p>
            <a:r>
              <a:rPr lang="zh-CN" sz="1200" dirty="0"/>
              <a:t>main 先读 n，构建 glist1；再读 n，构建 glist2；最后调用 IsEqual 并根据 bool 输出 true/false。主程序没有遍历、没有比较细节。这里要提前指出：IsEqual 在题给代码中只有声明，函数体缺失，下一页专门讲这个缺口。</a:t>
            </a:r>
            <a:endParaRPr lang="zh-CN" sz="1200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/>
          <p:nvPr>
            <p:ph type="sldImg"/>
          </p:nvPr>
        </p:nvSpPr>
        <p:spPr/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/>
          <a:lstStyle/>
          <a:p>
            <a:r>
              <a:rPr lang="zh-CN" sz="1200" dirty="0"/>
              <a:t>文件开头和结尾都出现 bool IsEqual(...) 的声明，但没有函数体；main 一调用它，链接阶段就会找不到符号。这不是小瑕疵，而是题目代码的未完成部分。讲到这里先停一下，明确接下来的 IsEqual 代码是讲解用的补充实现，不是题给原码。</a:t>
            </a:r>
            <a:endParaRPr lang="zh-CN" sz="1200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/>
          <p:nvPr>
            <p:ph type="sldImg"/>
          </p:nvPr>
        </p:nvSpPr>
        <p:spPr/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/>
          <a:lstStyle/>
          <a:p>
            <a:r>
              <a:rPr lang="zh-CN" sz="1200" dirty="0"/>
              <a:t>先声明这是补充实现。按 01–04 讲：a、b 同步沿 next 前进；tag 不同立即 false；都是 element 再比 data；都是 sublist 就递归进入 u.sub_list。循环结束时只有两边同时为空才返回 true。复杂度：时间与结点总数线性相关，空间取决于嵌套深度。</a:t>
            </a:r>
            <a:endParaRPr lang="zh-CN" sz="1200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/>
          <p:nvPr>
            <p:ph type="sldImg"/>
          </p:nvPr>
        </p:nvSpPr>
        <p:spPr/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/>
          <a:lstStyle/>
          <a:p>
            <a:r>
              <a:rPr lang="zh-CN" sz="1200" dirty="0"/>
              <a:t>这一页是代码审查：0 是原子哨兵，所以这个输入协议无法表示空子表；malloc 和 scanf 的返回值都没有检查；程序结束时没有释放 glist1、glist2；递归深度由最深层嵌套决定，极端深表可能爆栈。最后一页给一个可执行的验收动作。</a:t>
            </a:r>
            <a:endParaRPr lang="zh-CN" sz="1200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/>
          <p:nvPr>
            <p:ph type="sldImg"/>
          </p:nvPr>
        </p:nvSpPr>
        <p:spPr/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/>
          <a:lstStyle/>
          <a:p>
            <a:r>
              <a:rPr lang="zh-CN" sz="1200" dirty="0"/>
              <a:t>行动号召：先把 IsEqual 的函数体补进源文件，再编译；用题给的两条相同输入验证 true，把第二个表中任意一个 data 改掉再验证 false。最后用一句话收束：结构决定表示，递归决定构造，同步遍历决定判等。</a:t>
            </a:r>
            <a:endParaRPr lang="zh-CN" sz="1200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marL="342900" indent="-342900">
        <a:defRPr sz="2000">
          <a:solidFill>
            <a:srgbClr val="F5F7FA"/>
          </a:solidFill>
          <a:latin typeface="微软雅黑" panose="020B0503020204020204" charset="-122"/>
          <a:ea typeface="微软雅黑" panose="020B0503020204020204" charset="-122"/>
        </a:defRPr>
      </a:lvl1pPr>
      <a:lvl2pPr marL="685800" indent="-342900">
        <a:defRPr sz="1900">
          <a:solidFill>
            <a:srgbClr val="F5F7FA"/>
          </a:solidFill>
          <a:latin typeface="微软雅黑" panose="020B0503020204020204" charset="-122"/>
          <a:ea typeface="微软雅黑" panose="020B0503020204020204" charset="-122"/>
        </a:defRPr>
      </a:lvl2pPr>
      <a:lvl3pPr marL="1028700" indent="-342900">
        <a:defRPr sz="1800">
          <a:solidFill>
            <a:srgbClr val="F5F7FA"/>
          </a:solidFill>
          <a:latin typeface="微软雅黑" panose="020B0503020204020204" charset="-122"/>
          <a:ea typeface="微软雅黑" panose="020B0503020204020204" charset="-122"/>
        </a:defRPr>
      </a:lvl3pPr>
      <a:lvl4pPr marL="1371600" indent="-342900">
        <a:defRPr sz="1700">
          <a:solidFill>
            <a:srgbClr val="F5F7FA"/>
          </a:solidFill>
          <a:latin typeface="微软雅黑" panose="020B0503020204020204" charset="-122"/>
          <a:ea typeface="微软雅黑" panose="020B0503020204020204" charset="-122"/>
        </a:defRPr>
      </a:lvl4pPr>
      <a:lvl5pPr marL="1714500" indent="-342900">
        <a:defRPr sz="1600">
          <a:solidFill>
            <a:srgbClr val="F5F7FA"/>
          </a:solidFill>
          <a:latin typeface="微软雅黑" panose="020B0503020204020204" charset="-122"/>
          <a:ea typeface="微软雅黑" panose="020B0503020204020204" charset="-122"/>
        </a:defRPr>
      </a:lvl5pPr>
      <a:lvl6pPr marL="2057400" indent="-342900">
        <a:defRPr sz="1500">
          <a:solidFill>
            <a:srgbClr val="F5F7FA"/>
          </a:solidFill>
          <a:latin typeface="微软雅黑" panose="020B0503020204020204" charset="-122"/>
          <a:ea typeface="微软雅黑" panose="020B0503020204020204" charset="-122"/>
        </a:defRPr>
      </a:lvl6pPr>
      <a:lvl7pPr marL="2400300" indent="-342900">
        <a:defRPr sz="1400">
          <a:solidFill>
            <a:srgbClr val="F5F7FA"/>
          </a:solidFill>
          <a:latin typeface="微软雅黑" panose="020B0503020204020204" charset="-122"/>
          <a:ea typeface="微软雅黑" panose="020B0503020204020204" charset="-122"/>
        </a:defRPr>
      </a:lvl7pPr>
      <a:lvl8pPr marL="2743200" indent="-342900">
        <a:defRPr sz="1300">
          <a:solidFill>
            <a:srgbClr val="F5F7FA"/>
          </a:solidFill>
          <a:latin typeface="微软雅黑" panose="020B0503020204020204" charset="-122"/>
          <a:ea typeface="微软雅黑" panose="020B0503020204020204" charset="-122"/>
        </a:defRPr>
      </a:lvl8pPr>
      <a:lvl9pPr marL="3086100" indent="-342900">
        <a:defRPr sz="1200">
          <a:solidFill>
            <a:srgbClr val="F5F7FA"/>
          </a:solidFill>
          <a:latin typeface="微软雅黑" panose="020B0503020204020204" charset="-122"/>
          <a:ea typeface="微软雅黑" panose="020B0503020204020204" charset="-122"/>
        </a:defRPr>
      </a:lvl9pPr>
    </p:titleStyle>
    <p:bodyStyle>
      <a:lvl1pPr marL="342900" indent="-342900">
        <a:defRPr sz="2000">
          <a:solidFill>
            <a:srgbClr val="F5F7FA"/>
          </a:solidFill>
          <a:latin typeface="微软雅黑" panose="020B0503020204020204" charset="-122"/>
          <a:ea typeface="微软雅黑" panose="020B0503020204020204" charset="-122"/>
        </a:defRPr>
      </a:lvl1pPr>
      <a:lvl2pPr marL="685800" indent="-342900">
        <a:defRPr sz="1900">
          <a:solidFill>
            <a:srgbClr val="F5F7FA"/>
          </a:solidFill>
          <a:latin typeface="微软雅黑" panose="020B0503020204020204" charset="-122"/>
          <a:ea typeface="微软雅黑" panose="020B0503020204020204" charset="-122"/>
        </a:defRPr>
      </a:lvl2pPr>
      <a:lvl3pPr marL="1028700" indent="-342900">
        <a:defRPr sz="1800">
          <a:solidFill>
            <a:srgbClr val="F5F7FA"/>
          </a:solidFill>
          <a:latin typeface="微软雅黑" panose="020B0503020204020204" charset="-122"/>
          <a:ea typeface="微软雅黑" panose="020B0503020204020204" charset="-122"/>
        </a:defRPr>
      </a:lvl3pPr>
      <a:lvl4pPr marL="1371600" indent="-342900">
        <a:defRPr sz="1700">
          <a:solidFill>
            <a:srgbClr val="F5F7FA"/>
          </a:solidFill>
          <a:latin typeface="微软雅黑" panose="020B0503020204020204" charset="-122"/>
          <a:ea typeface="微软雅黑" panose="020B0503020204020204" charset="-122"/>
        </a:defRPr>
      </a:lvl4pPr>
      <a:lvl5pPr marL="1714500" indent="-342900">
        <a:defRPr sz="1600">
          <a:solidFill>
            <a:srgbClr val="F5F7FA"/>
          </a:solidFill>
          <a:latin typeface="微软雅黑" panose="020B0503020204020204" charset="-122"/>
          <a:ea typeface="微软雅黑" panose="020B0503020204020204" charset="-122"/>
        </a:defRPr>
      </a:lvl5pPr>
      <a:lvl6pPr marL="2057400" indent="-342900">
        <a:defRPr sz="1500">
          <a:solidFill>
            <a:srgbClr val="F5F7FA"/>
          </a:solidFill>
          <a:latin typeface="微软雅黑" panose="020B0503020204020204" charset="-122"/>
          <a:ea typeface="微软雅黑" panose="020B0503020204020204" charset="-122"/>
        </a:defRPr>
      </a:lvl6pPr>
      <a:lvl7pPr marL="2400300" indent="-342900">
        <a:defRPr sz="1400">
          <a:solidFill>
            <a:srgbClr val="F5F7FA"/>
          </a:solidFill>
          <a:latin typeface="微软雅黑" panose="020B0503020204020204" charset="-122"/>
          <a:ea typeface="微软雅黑" panose="020B0503020204020204" charset="-122"/>
        </a:defRPr>
      </a:lvl7pPr>
      <a:lvl8pPr marL="2743200" indent="-342900">
        <a:defRPr sz="1300">
          <a:solidFill>
            <a:srgbClr val="F5F7FA"/>
          </a:solidFill>
          <a:latin typeface="微软雅黑" panose="020B0503020204020204" charset="-122"/>
          <a:ea typeface="微软雅黑" panose="020B0503020204020204" charset="-122"/>
        </a:defRPr>
      </a:lvl8pPr>
      <a:lvl9pPr marL="3086100" indent="-342900">
        <a:defRPr sz="1200">
          <a:solidFill>
            <a:srgbClr val="F5F7FA"/>
          </a:solidFill>
          <a:latin typeface="微软雅黑" panose="020B0503020204020204" charset="-122"/>
          <a:ea typeface="微软雅黑" panose="020B0503020204020204" charset="-122"/>
        </a:defRPr>
      </a:lvl9pPr>
    </p:bodyStyle>
    <p:otherStyle>
      <a:lvl1pPr marL="342900" indent="-342900">
        <a:defRPr sz="2000">
          <a:solidFill>
            <a:srgbClr val="F5F7FA"/>
          </a:solidFill>
          <a:latin typeface="微软雅黑" panose="020B0503020204020204" charset="-122"/>
          <a:ea typeface="微软雅黑" panose="020B0503020204020204" charset="-122"/>
        </a:defRPr>
      </a:lvl1pPr>
      <a:lvl2pPr marL="685800" indent="-342900">
        <a:defRPr sz="1900">
          <a:solidFill>
            <a:srgbClr val="F5F7FA"/>
          </a:solidFill>
          <a:latin typeface="微软雅黑" panose="020B0503020204020204" charset="-122"/>
          <a:ea typeface="微软雅黑" panose="020B0503020204020204" charset="-122"/>
        </a:defRPr>
      </a:lvl2pPr>
      <a:lvl3pPr marL="1028700" indent="-342900">
        <a:defRPr sz="1800">
          <a:solidFill>
            <a:srgbClr val="F5F7FA"/>
          </a:solidFill>
          <a:latin typeface="微软雅黑" panose="020B0503020204020204" charset="-122"/>
          <a:ea typeface="微软雅黑" panose="020B0503020204020204" charset="-122"/>
        </a:defRPr>
      </a:lvl3pPr>
      <a:lvl4pPr marL="1371600" indent="-342900">
        <a:defRPr sz="1700">
          <a:solidFill>
            <a:srgbClr val="F5F7FA"/>
          </a:solidFill>
          <a:latin typeface="微软雅黑" panose="020B0503020204020204" charset="-122"/>
          <a:ea typeface="微软雅黑" panose="020B0503020204020204" charset="-122"/>
        </a:defRPr>
      </a:lvl4pPr>
      <a:lvl5pPr marL="1714500" indent="-342900">
        <a:defRPr sz="1600">
          <a:solidFill>
            <a:srgbClr val="F5F7FA"/>
          </a:solidFill>
          <a:latin typeface="微软雅黑" panose="020B0503020204020204" charset="-122"/>
          <a:ea typeface="微软雅黑" panose="020B0503020204020204" charset="-122"/>
        </a:defRPr>
      </a:lvl5pPr>
      <a:lvl6pPr marL="2057400" indent="-342900">
        <a:defRPr sz="1500">
          <a:solidFill>
            <a:srgbClr val="F5F7FA"/>
          </a:solidFill>
          <a:latin typeface="微软雅黑" panose="020B0503020204020204" charset="-122"/>
          <a:ea typeface="微软雅黑" panose="020B0503020204020204" charset="-122"/>
        </a:defRPr>
      </a:lvl6pPr>
      <a:lvl7pPr marL="2400300" indent="-342900">
        <a:defRPr sz="1400">
          <a:solidFill>
            <a:srgbClr val="F5F7FA"/>
          </a:solidFill>
          <a:latin typeface="微软雅黑" panose="020B0503020204020204" charset="-122"/>
          <a:ea typeface="微软雅黑" panose="020B0503020204020204" charset="-122"/>
        </a:defRPr>
      </a:lvl7pPr>
      <a:lvl8pPr marL="2743200" indent="-342900">
        <a:defRPr sz="1300">
          <a:solidFill>
            <a:srgbClr val="F5F7FA"/>
          </a:solidFill>
          <a:latin typeface="微软雅黑" panose="020B0503020204020204" charset="-122"/>
          <a:ea typeface="微软雅黑" panose="020B0503020204020204" charset="-122"/>
        </a:defRPr>
      </a:lvl8pPr>
      <a:lvl9pPr marL="3086100" indent="-342900">
        <a:defRPr sz="1200">
          <a:solidFill>
            <a:srgbClr val="F5F7FA"/>
          </a:solidFill>
          <a:latin typeface="微软雅黑" panose="020B0503020204020204" charset="-122"/>
          <a:ea typeface="微软雅黑" panose="020B0503020204020204" charset="-122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5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ccent bar"/>
          <p:cNvSpPr/>
          <p:nvPr/>
        </p:nvSpPr>
        <p:spPr>
          <a:xfrm>
            <a:off x="914400" y="2250000"/>
            <a:ext cx="240000" cy="1600000"/>
          </a:xfrm>
          <a:prstGeom prst="rect">
            <a:avLst/>
          </a:prstGeom>
          <a:solidFill>
            <a:srgbClr val="2F6BFF"/>
          </a:solidFill>
        </p:spPr>
        <p:txBody>
          <a:bodyPr/>
          <a:lstStyle/>
          <a:p/>
        </p:txBody>
      </p:sp>
      <p:sp>
        <p:nvSpPr>
          <p:cNvPr id="12" name="Title"/>
          <p:cNvSpPr txBox="1"/>
          <p:nvPr/>
        </p:nvSpPr>
        <p:spPr>
          <a:xfrm>
            <a:off x="1550000" y="2160000"/>
            <a:ext cx="9250000" cy="18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>
              <a:buNone/>
            </a:pPr>
            <a:r>
              <a:rPr lang="zh-CN" sz="4400" b="1" dirty="0">
                <a:solidFill>
                  <a:srgbClr val="F5F7FA"/>
                </a:solidFill>
                <a:latin typeface="微软雅黑" panose="020B0503020204020204" charset="-122"/>
                <a:ea typeface="微软雅黑" panose="020B0503020204020204" charset="-122"/>
              </a:rPr>
              <a:t>把广义表压进一条链</a:t>
            </a:r>
            <a:endParaRPr lang="zh-CN" sz="4400" b="1" dirty="0">
              <a:solidFill>
                <a:srgbClr val="F5F7F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Subtitle"/>
          <p:cNvSpPr txBox="1"/>
          <p:nvPr/>
        </p:nvSpPr>
        <p:spPr>
          <a:xfrm>
            <a:off x="1570000" y="4150000"/>
            <a:ext cx="9000000" cy="12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>
              <a:buNone/>
            </a:pPr>
            <a:r>
              <a:rPr lang="zh-CN" sz="2200" b="0" dirty="0">
                <a:solidFill>
                  <a:srgbClr val="8E9AAA"/>
                </a:solidFill>
                <a:latin typeface="微软雅黑" panose="020B0503020204020204" charset="-122"/>
                <a:ea typeface="微软雅黑" panose="020B0503020204020204" charset="-122"/>
              </a:rPr>
              <a:t>从 struct 定义、BuildList 递归构造，到 IsEqual 判等</a:t>
            </a:r>
            <a:endParaRPr lang="zh-CN" sz="2200" b="0" dirty="0">
              <a:solidFill>
                <a:srgbClr val="8E9AA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Kicker"/>
          <p:cNvSpPr txBox="1"/>
          <p:nvPr/>
        </p:nvSpPr>
        <p:spPr>
          <a:xfrm>
            <a:off x="1570000" y="5800000"/>
            <a:ext cx="7000000" cy="5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>
              <a:buNone/>
            </a:pPr>
            <a:r>
              <a:rPr lang="zh-CN" sz="1400" b="1" dirty="0">
                <a:solidFill>
                  <a:srgbClr val="2F6BFF"/>
                </a:solidFill>
                <a:latin typeface="微软雅黑" panose="020B0503020204020204" charset="-122"/>
                <a:ea typeface="微软雅黑" panose="020B0503020204020204" charset="-122"/>
              </a:rPr>
              <a:t>数据结构 · C 语言实现</a:t>
            </a:r>
            <a:endParaRPr lang="zh-CN" sz="1400" b="1" dirty="0">
              <a:solidFill>
                <a:srgbClr val="2F6B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Page number"/>
          <p:cNvSpPr txBox="1"/>
          <p:nvPr/>
        </p:nvSpPr>
        <p:spPr>
          <a:xfrm>
            <a:off x="10600000" y="6250000"/>
            <a:ext cx="1200000" cy="4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r">
              <a:buNone/>
            </a:pPr>
            <a:r>
              <a:rPr lang="zh-CN" sz="1000" b="0" dirty="0">
                <a:solidFill>
                  <a:srgbClr val="8E9AAA"/>
                </a:solidFill>
                <a:latin typeface="微软雅黑" panose="020B0503020204020204" charset="-122"/>
                <a:ea typeface="微软雅黑" panose="020B0503020204020204" charset="-122"/>
              </a:rPr>
              <a:t>01 / 11</a:t>
            </a:r>
            <a:endParaRPr lang="zh-CN" sz="1000" b="0" dirty="0">
              <a:solidFill>
                <a:srgbClr val="8E9AA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5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Kicker"/>
          <p:cNvSpPr txBox="1"/>
          <p:nvPr/>
        </p:nvSpPr>
        <p:spPr>
          <a:xfrm>
            <a:off x="900000" y="420000"/>
            <a:ext cx="10000000" cy="42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>
              <a:buNone/>
            </a:pPr>
            <a:r>
              <a:rPr lang="zh-CN" sz="1400" b="1" dirty="0">
                <a:solidFill>
                  <a:srgbClr val="2F6BFF"/>
                </a:solidFill>
                <a:latin typeface="微软雅黑" panose="020B0503020204020204" charset="-122"/>
                <a:ea typeface="微软雅黑" panose="020B0503020204020204" charset="-122"/>
              </a:rPr>
              <a:t>路线</a:t>
            </a:r>
            <a:endParaRPr lang="zh-CN" sz="1400" b="1" dirty="0">
              <a:solidFill>
                <a:srgbClr val="2F6B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Title"/>
          <p:cNvSpPr txBox="1"/>
          <p:nvPr/>
        </p:nvSpPr>
        <p:spPr>
          <a:xfrm>
            <a:off x="900000" y="920000"/>
            <a:ext cx="10300000" cy="8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>
              <a:buNone/>
            </a:pPr>
            <a:r>
              <a:rPr lang="zh-CN" sz="3400" b="1" dirty="0">
                <a:solidFill>
                  <a:srgbClr val="F5F7FA"/>
                </a:solidFill>
                <a:latin typeface="微软雅黑" panose="020B0503020204020204" charset="-122"/>
                <a:ea typeface="微软雅黑" panose="020B0503020204020204" charset="-122"/>
              </a:rPr>
              <a:t>先讲结构，再讲构造，最后补判等</a:t>
            </a:r>
            <a:endParaRPr lang="zh-CN" sz="3400" b="1" dirty="0">
              <a:solidFill>
                <a:srgbClr val="F5F7F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Body"/>
          <p:cNvSpPr txBox="1"/>
          <p:nvPr/>
        </p:nvSpPr>
        <p:spPr>
          <a:xfrm>
            <a:off x="1050000" y="1850000"/>
            <a:ext cx="10100000" cy="45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F5F7FA"/>
                </a:solidFill>
                <a:latin typeface="微软雅黑" panose="020B0503020204020204" charset="-122"/>
                <a:ea typeface="微软雅黑" panose="020B0503020204020204" charset="-122"/>
              </a:rPr>
              <a:t>结构：一个 struct 同时容纳 data 与 sub_list</a:t>
            </a:r>
            <a:endParaRPr lang="zh-CN" sz="2000" b="0" dirty="0">
              <a:solidFill>
                <a:srgbClr val="F5F7F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F5F7FA"/>
                </a:solidFill>
                <a:latin typeface="微软雅黑" panose="020B0503020204020204" charset="-122"/>
                <a:ea typeface="微软雅黑" panose="020B0503020204020204" charset="-122"/>
              </a:rPr>
              <a:t>构造：BuildList 递归生成一条 GList</a:t>
            </a:r>
            <a:endParaRPr lang="zh-CN" sz="2000" b="0" dirty="0">
              <a:solidFill>
                <a:srgbClr val="F5F7F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F5F7FA"/>
                </a:solidFill>
                <a:latin typeface="微软雅黑" panose="020B0503020204020204" charset="-122"/>
                <a:ea typeface="微软雅黑" panose="020B0503020204020204" charset="-122"/>
              </a:rPr>
              <a:t>判等：IsEqual 同步比较两条链</a:t>
            </a:r>
            <a:endParaRPr lang="zh-CN" sz="2000" b="0" dirty="0">
              <a:solidFill>
                <a:srgbClr val="F5F7F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F5F7FA"/>
                </a:solidFill>
                <a:latin typeface="微软雅黑" panose="020B0503020204020204" charset="-122"/>
                <a:ea typeface="微软雅黑" panose="020B0503020204020204" charset="-122"/>
              </a:rPr>
              <a:t>缺口：题给代码没有 IsEqual 的函数体</a:t>
            </a:r>
            <a:endParaRPr lang="zh-CN" sz="2000" b="0" dirty="0">
              <a:solidFill>
                <a:srgbClr val="F5F7F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Page number"/>
          <p:cNvSpPr txBox="1"/>
          <p:nvPr/>
        </p:nvSpPr>
        <p:spPr>
          <a:xfrm>
            <a:off x="10600000" y="6250000"/>
            <a:ext cx="1200000" cy="4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r">
              <a:buNone/>
            </a:pPr>
            <a:r>
              <a:rPr lang="zh-CN" sz="1000" b="0" dirty="0">
                <a:solidFill>
                  <a:srgbClr val="8E9AAA"/>
                </a:solidFill>
                <a:latin typeface="微软雅黑" panose="020B0503020204020204" charset="-122"/>
                <a:ea typeface="微软雅黑" panose="020B0503020204020204" charset="-122"/>
              </a:rPr>
              <a:t>02 / 11</a:t>
            </a:r>
            <a:endParaRPr lang="zh-CN" sz="1000" b="0" dirty="0">
              <a:solidFill>
                <a:srgbClr val="8E9AA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5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itle"/>
          <p:cNvSpPr txBox="1"/>
          <p:nvPr/>
        </p:nvSpPr>
        <p:spPr>
          <a:xfrm>
            <a:off x="777240" y="585216"/>
            <a:ext cx="10607040" cy="77724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>
              <a:buNone/>
            </a:pPr>
            <a:r>
              <a:rPr lang="zh-CN" sz="3400" b="1" dirty="0">
                <a:solidFill>
                  <a:srgbClr val="F5F7FA"/>
                </a:solidFill>
                <a:latin typeface="微软雅黑" panose="020B0503020204020204" charset="-122"/>
                <a:ea typeface="微软雅黑" panose="020B0503020204020204" charset="-122"/>
              </a:rPr>
              <a:t>tag 决定怎么读 union，next 决定往哪走</a:t>
            </a:r>
            <a:endParaRPr lang="zh-CN" sz="3400" b="1" dirty="0">
              <a:solidFill>
                <a:srgbClr val="F5F7F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" name="Page number"/>
          <p:cNvSpPr txBox="1"/>
          <p:nvPr/>
        </p:nvSpPr>
        <p:spPr>
          <a:xfrm>
            <a:off x="10600000" y="6250000"/>
            <a:ext cx="1200000" cy="4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r">
              <a:buNone/>
            </a:pPr>
            <a:r>
              <a:rPr lang="zh-CN" sz="1000" b="0" dirty="0">
                <a:solidFill>
                  <a:srgbClr val="8E9AAA"/>
                </a:solidFill>
                <a:latin typeface="微软雅黑" panose="020B0503020204020204" charset="-122"/>
                <a:ea typeface="微软雅黑" panose="020B0503020204020204" charset="-122"/>
              </a:rPr>
              <a:t>03 / 11</a:t>
            </a:r>
            <a:endParaRPr lang="zh-CN" sz="1000" b="0" dirty="0">
              <a:solidFill>
                <a:srgbClr val="8E9AA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40" name="Slide image" descr="struct GListNode 逐行标注：tag、union、GList 指针与 next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693164"/>
            <a:ext cx="10607040" cy="4066032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5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"/>
          <p:cNvSpPr txBox="1"/>
          <p:nvPr/>
        </p:nvSpPr>
        <p:spPr>
          <a:xfrm>
            <a:off x="777240" y="585216"/>
            <a:ext cx="10607040" cy="77724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>
              <a:buNone/>
            </a:pPr>
            <a:r>
              <a:rPr lang="zh-CN" sz="3400" b="1" dirty="0">
                <a:solidFill>
                  <a:srgbClr val="F5F7FA"/>
                </a:solidFill>
                <a:latin typeface="微软雅黑" panose="020B0503020204020204" charset="-122"/>
                <a:ea typeface="微软雅黑" panose="020B0503020204020204" charset="-122"/>
              </a:rPr>
              <a:t>子表不是特殊结构，只是 tag=sublist 的结点</a:t>
            </a:r>
            <a:endParaRPr lang="zh-CN" sz="3400" b="1" dirty="0">
              <a:solidFill>
                <a:srgbClr val="F5F7F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9" name="Page number"/>
          <p:cNvSpPr txBox="1"/>
          <p:nvPr/>
        </p:nvSpPr>
        <p:spPr>
          <a:xfrm>
            <a:off x="10600000" y="6250000"/>
            <a:ext cx="1200000" cy="4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r">
              <a:buNone/>
            </a:pPr>
            <a:r>
              <a:rPr lang="zh-CN" sz="1000" b="0" dirty="0">
                <a:solidFill>
                  <a:srgbClr val="8E9AAA"/>
                </a:solidFill>
                <a:latin typeface="微软雅黑" panose="020B0503020204020204" charset="-122"/>
                <a:ea typeface="微软雅黑" panose="020B0503020204020204" charset="-122"/>
              </a:rPr>
              <a:t>04 / 11</a:t>
            </a:r>
            <a:endParaRPr lang="zh-CN" sz="1000" b="0" dirty="0">
              <a:solidFill>
                <a:srgbClr val="8E9AA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50" name="Slide image" descr="((10,20),30) 的 GList 链式结构图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693164"/>
            <a:ext cx="10607040" cy="4066032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5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Title"/>
          <p:cNvSpPr txBox="1"/>
          <p:nvPr/>
        </p:nvSpPr>
        <p:spPr>
          <a:xfrm>
            <a:off x="777240" y="585216"/>
            <a:ext cx="10607040" cy="77724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>
              <a:buNone/>
            </a:pPr>
            <a:r>
              <a:rPr lang="zh-CN" sz="3400" b="1" dirty="0">
                <a:solidFill>
                  <a:srgbClr val="F5F7FA"/>
                </a:solidFill>
                <a:latin typeface="微软雅黑" panose="020B0503020204020204" charset="-122"/>
                <a:ea typeface="微软雅黑" panose="020B0503020204020204" charset="-122"/>
              </a:rPr>
              <a:t>BuildList 用临时头结点，把尾插写简单</a:t>
            </a:r>
            <a:endParaRPr lang="zh-CN" sz="3400" b="1" dirty="0">
              <a:solidFill>
                <a:srgbClr val="F5F7F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9" name="Page number"/>
          <p:cNvSpPr txBox="1"/>
          <p:nvPr/>
        </p:nvSpPr>
        <p:spPr>
          <a:xfrm>
            <a:off x="10600000" y="6250000"/>
            <a:ext cx="1200000" cy="4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r">
              <a:buNone/>
            </a:pPr>
            <a:r>
              <a:rPr lang="zh-CN" sz="1000" b="0" dirty="0">
                <a:solidFill>
                  <a:srgbClr val="8E9AAA"/>
                </a:solidFill>
                <a:latin typeface="微软雅黑" panose="020B0503020204020204" charset="-122"/>
                <a:ea typeface="微软雅黑" panose="020B0503020204020204" charset="-122"/>
              </a:rPr>
              <a:t>05 / 11</a:t>
            </a:r>
            <a:endParaRPr lang="zh-CN" sz="1000" b="0" dirty="0">
              <a:solidFill>
                <a:srgbClr val="8E9AA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60" name="Slide image" descr="BuildList 逐行标注：临时头结点、k 的分派、递归、尾插与释放哑结点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693164"/>
            <a:ext cx="10607040" cy="4066032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5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Title"/>
          <p:cNvSpPr txBox="1"/>
          <p:nvPr/>
        </p:nvSpPr>
        <p:spPr>
          <a:xfrm>
            <a:off x="900000" y="920000"/>
            <a:ext cx="10300000" cy="8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>
              <a:buNone/>
            </a:pPr>
            <a:r>
              <a:rPr lang="zh-CN" sz="3400" b="1" dirty="0">
                <a:solidFill>
                  <a:srgbClr val="F5F7FA"/>
                </a:solidFill>
                <a:latin typeface="微软雅黑" panose="020B0503020204020204" charset="-122"/>
                <a:ea typeface="微软雅黑" panose="020B0503020204020204" charset="-122"/>
              </a:rPr>
              <a:t>输入按结点数递归读取，不是括号串</a:t>
            </a:r>
            <a:endParaRPr lang="zh-CN" sz="3400" b="1" dirty="0">
              <a:solidFill>
                <a:srgbClr val="F5F7F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63" name="Table"/>
          <p:cNvGraphicFramePr>
            <a:graphicFrameLocks noGrp="1"/>
          </p:cNvGraphicFramePr>
          <p:nvPr/>
        </p:nvGraphicFramePr>
        <p:xfrm>
          <a:off x="900000" y="1950000"/>
          <a:ext cx="10300000" cy="2520000"/>
        </p:xfrm>
        <a:graphic>
          <a:graphicData uri="http://schemas.openxmlformats.org/drawingml/2006/table">
            <a:tbl>
              <a:tblPr firstRow="1" bandRow="1"/>
              <a:tblGrid>
                <a:gridCol w="3433333"/>
                <a:gridCol w="3433333"/>
                <a:gridCol w="3433333"/>
              </a:tblGrid>
              <a:tr h="420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1700" b="1" dirty="0">
                          <a:solidFill>
                            <a:srgbClr val="10151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记号</a:t>
                      </a:r>
                      <a:endParaRPr lang="zh-CN" sz="1700" b="1" dirty="0">
                        <a:solidFill>
                          <a:srgbClr val="10151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2F6B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1700" b="1" dirty="0">
                          <a:solidFill>
                            <a:srgbClr val="10151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所在层</a:t>
                      </a:r>
                      <a:endParaRPr lang="zh-CN" sz="1700" b="1" dirty="0">
                        <a:solidFill>
                          <a:srgbClr val="10151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2F6B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1700" b="1" dirty="0">
                          <a:solidFill>
                            <a:srgbClr val="10151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动作</a:t>
                      </a:r>
                      <a:endParaRPr lang="zh-CN" sz="1700" b="1" dirty="0">
                        <a:solidFill>
                          <a:srgbClr val="10151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2F6BFF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1700" b="0" dirty="0">
                          <a:solidFill>
                            <a:srgbClr val="F5F7F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zh-CN" sz="1700" b="0" dirty="0">
                        <a:solidFill>
                          <a:srgbClr val="F5F7F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161D2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1700" b="0" dirty="0">
                          <a:solidFill>
                            <a:srgbClr val="F5F7F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main</a:t>
                      </a:r>
                      <a:endParaRPr lang="zh-CN" sz="1700" b="0" dirty="0">
                        <a:solidFill>
                          <a:srgbClr val="F5F7F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161D2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1700" b="0" dirty="0">
                          <a:solidFill>
                            <a:srgbClr val="F5F7F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顶层 n = 2</a:t>
                      </a:r>
                      <a:endParaRPr lang="zh-CN" sz="1700" b="0" dirty="0">
                        <a:solidFill>
                          <a:srgbClr val="F5F7F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161D26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1700" b="0" dirty="0">
                          <a:solidFill>
                            <a:srgbClr val="F5F7F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zh-CN" sz="1700" b="0" dirty="0">
                        <a:solidFill>
                          <a:srgbClr val="F5F7F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1700" b="0" dirty="0">
                          <a:solidFill>
                            <a:srgbClr val="F5F7F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顶层</a:t>
                      </a:r>
                      <a:endParaRPr lang="zh-CN" sz="1700" b="0" dirty="0">
                        <a:solidFill>
                          <a:srgbClr val="F5F7F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1700" b="0" dirty="0">
                          <a:solidFill>
                            <a:srgbClr val="F5F7F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子表 n = 2</a:t>
                      </a:r>
                      <a:endParaRPr lang="zh-CN" sz="1700" b="0" dirty="0">
                        <a:solidFill>
                          <a:srgbClr val="F5F7F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noFill/>
                  </a:tcPr>
                </a:tc>
              </a:tr>
              <a:tr h="420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1700" b="0" dirty="0">
                          <a:solidFill>
                            <a:srgbClr val="F5F7F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0 10</a:t>
                      </a:r>
                      <a:endParaRPr lang="zh-CN" sz="1700" b="0" dirty="0">
                        <a:solidFill>
                          <a:srgbClr val="F5F7F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161D2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1700" b="0" dirty="0">
                          <a:solidFill>
                            <a:srgbClr val="F5F7F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子表</a:t>
                      </a:r>
                      <a:endParaRPr lang="zh-CN" sz="1700" b="0" dirty="0">
                        <a:solidFill>
                          <a:srgbClr val="F5F7F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161D2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1700" b="0" dirty="0">
                          <a:solidFill>
                            <a:srgbClr val="F5F7F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element，data = 10</a:t>
                      </a:r>
                      <a:endParaRPr lang="zh-CN" sz="1700" b="0" dirty="0">
                        <a:solidFill>
                          <a:srgbClr val="F5F7F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161D26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1700" b="0" dirty="0">
                          <a:solidFill>
                            <a:srgbClr val="F5F7F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0 20</a:t>
                      </a:r>
                      <a:endParaRPr lang="zh-CN" sz="1700" b="0" dirty="0">
                        <a:solidFill>
                          <a:srgbClr val="F5F7F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1700" b="0" dirty="0">
                          <a:solidFill>
                            <a:srgbClr val="F5F7F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子表</a:t>
                      </a:r>
                      <a:endParaRPr lang="zh-CN" sz="1700" b="0" dirty="0">
                        <a:solidFill>
                          <a:srgbClr val="F5F7F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1700" b="0" dirty="0">
                          <a:solidFill>
                            <a:srgbClr val="F5F7F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element，data = 20</a:t>
                      </a:r>
                      <a:endParaRPr lang="zh-CN" sz="1700" b="0" dirty="0">
                        <a:solidFill>
                          <a:srgbClr val="F5F7F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noFill/>
                  </a:tcPr>
                </a:tc>
              </a:tr>
              <a:tr h="420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1700" b="0" dirty="0">
                          <a:solidFill>
                            <a:srgbClr val="F5F7F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0 30</a:t>
                      </a:r>
                      <a:endParaRPr lang="zh-CN" sz="1700" b="0" dirty="0">
                        <a:solidFill>
                          <a:srgbClr val="F5F7F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161D2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1700" b="0" dirty="0">
                          <a:solidFill>
                            <a:srgbClr val="F5F7F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顶层</a:t>
                      </a:r>
                      <a:endParaRPr lang="zh-CN" sz="1700" b="0" dirty="0">
                        <a:solidFill>
                          <a:srgbClr val="F5F7F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161D2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1700" b="0" dirty="0">
                          <a:solidFill>
                            <a:srgbClr val="F5F7F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element，data = 30</a:t>
                      </a:r>
                      <a:endParaRPr lang="zh-CN" sz="1700" b="0" dirty="0">
                        <a:solidFill>
                          <a:srgbClr val="F5F7F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161D26"/>
                    </a:solidFill>
                  </a:tcPr>
                </a:tc>
              </a:tr>
            </a:tbl>
          </a:graphicData>
        </a:graphic>
      </p:graphicFrame>
      <p:sp>
        <p:nvSpPr>
          <p:cNvPr id="69" name="Page number"/>
          <p:cNvSpPr txBox="1"/>
          <p:nvPr/>
        </p:nvSpPr>
        <p:spPr>
          <a:xfrm>
            <a:off x="10600000" y="6250000"/>
            <a:ext cx="1200000" cy="4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r">
              <a:buNone/>
            </a:pPr>
            <a:r>
              <a:rPr lang="zh-CN" sz="1000" b="0" dirty="0">
                <a:solidFill>
                  <a:srgbClr val="8E9AAA"/>
                </a:solidFill>
                <a:latin typeface="微软雅黑" panose="020B0503020204020204" charset="-122"/>
                <a:ea typeface="微软雅黑" panose="020B0503020204020204" charset="-122"/>
              </a:rPr>
              <a:t>06 / 11</a:t>
            </a:r>
            <a:endParaRPr lang="zh-CN" sz="1000" b="0" dirty="0">
              <a:solidFill>
                <a:srgbClr val="8E9AA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5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le"/>
          <p:cNvSpPr txBox="1"/>
          <p:nvPr/>
        </p:nvSpPr>
        <p:spPr>
          <a:xfrm>
            <a:off x="777240" y="585216"/>
            <a:ext cx="10607040" cy="77724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>
              <a:buNone/>
            </a:pPr>
            <a:r>
              <a:rPr lang="zh-CN" sz="3400" b="1" dirty="0">
                <a:solidFill>
                  <a:srgbClr val="F5F7FA"/>
                </a:solidFill>
                <a:latin typeface="微软雅黑" panose="020B0503020204020204" charset="-122"/>
                <a:ea typeface="微软雅黑" panose="020B0503020204020204" charset="-122"/>
              </a:rPr>
              <a:t>主程序不碰结点，只做两次构建和一次判断</a:t>
            </a:r>
            <a:endParaRPr lang="zh-CN" sz="3400" b="1" dirty="0">
              <a:solidFill>
                <a:srgbClr val="F5F7F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9" name="Page number"/>
          <p:cNvSpPr txBox="1"/>
          <p:nvPr/>
        </p:nvSpPr>
        <p:spPr>
          <a:xfrm>
            <a:off x="10600000" y="6250000"/>
            <a:ext cx="1200000" cy="4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r">
              <a:buNone/>
            </a:pPr>
            <a:r>
              <a:rPr lang="zh-CN" sz="1000" b="0" dirty="0">
                <a:solidFill>
                  <a:srgbClr val="8E9AAA"/>
                </a:solidFill>
                <a:latin typeface="微软雅黑" panose="020B0503020204020204" charset="-122"/>
                <a:ea typeface="微软雅黑" panose="020B0503020204020204" charset="-122"/>
              </a:rPr>
              <a:t>07 / 11</a:t>
            </a:r>
            <a:endParaRPr lang="zh-CN" sz="1000" b="0" dirty="0">
              <a:solidFill>
                <a:srgbClr val="8E9AA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80" name="Slide image" descr="main 函数逐行标注：两次 BuildList 与 IsEqual 调用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693164"/>
            <a:ext cx="10607040" cy="4066032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5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Accent bar"/>
          <p:cNvSpPr/>
          <p:nvPr/>
        </p:nvSpPr>
        <p:spPr>
          <a:xfrm>
            <a:off x="914400" y="1900000"/>
            <a:ext cx="200000" cy="2800000"/>
          </a:xfrm>
          <a:prstGeom prst="rect">
            <a:avLst/>
          </a:prstGeom>
          <a:solidFill>
            <a:srgbClr val="2F6BFF"/>
          </a:solidFill>
        </p:spPr>
        <p:txBody>
          <a:bodyPr/>
          <a:lstStyle/>
          <a:p/>
        </p:txBody>
      </p:sp>
      <p:sp>
        <p:nvSpPr>
          <p:cNvPr id="82" name="Statement"/>
          <p:cNvSpPr txBox="1"/>
          <p:nvPr/>
        </p:nvSpPr>
        <p:spPr>
          <a:xfrm>
            <a:off x="1500000" y="1950000"/>
            <a:ext cx="9400000" cy="27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>
              <a:buNone/>
            </a:pPr>
            <a:r>
              <a:rPr lang="zh-CN" sz="3600" b="1" dirty="0">
                <a:solidFill>
                  <a:srgbClr val="F5F7FA"/>
                </a:solidFill>
                <a:latin typeface="微软雅黑" panose="020B0503020204020204" charset="-122"/>
                <a:ea typeface="微软雅黑" panose="020B0503020204020204" charset="-122"/>
              </a:rPr>
              <a:t>IsEqual</a:t>
            </a:r>
            <a:endParaRPr lang="zh-CN" sz="3600" b="1" dirty="0">
              <a:solidFill>
                <a:srgbClr val="F5F7F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3" name="Subtitle"/>
          <p:cNvSpPr txBox="1"/>
          <p:nvPr/>
        </p:nvSpPr>
        <p:spPr>
          <a:xfrm>
            <a:off x="1520000" y="4900000"/>
            <a:ext cx="9000000" cy="8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>
              <a:buNone/>
            </a:pPr>
            <a:r>
              <a:rPr lang="zh-CN" sz="1800" b="0" dirty="0">
                <a:solidFill>
                  <a:srgbClr val="8E9AAA"/>
                </a:solidFill>
                <a:latin typeface="微软雅黑" panose="020B0503020204020204" charset="-122"/>
                <a:ea typeface="微软雅黑" panose="020B0503020204020204" charset="-122"/>
              </a:rPr>
              <a:t>只声明、不定义：编译能过，链接会失败；补全函数体，程序才完整。</a:t>
            </a:r>
            <a:endParaRPr lang="zh-CN" sz="1800" b="0" dirty="0">
              <a:solidFill>
                <a:srgbClr val="8E9AA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9" name="Page number"/>
          <p:cNvSpPr txBox="1"/>
          <p:nvPr/>
        </p:nvSpPr>
        <p:spPr>
          <a:xfrm>
            <a:off x="10600000" y="6250000"/>
            <a:ext cx="1200000" cy="4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r">
              <a:buNone/>
            </a:pPr>
            <a:r>
              <a:rPr lang="zh-CN" sz="1000" b="0" dirty="0">
                <a:solidFill>
                  <a:srgbClr val="8E9AAA"/>
                </a:solidFill>
                <a:latin typeface="微软雅黑" panose="020B0503020204020204" charset="-122"/>
                <a:ea typeface="微软雅黑" panose="020B0503020204020204" charset="-122"/>
              </a:rPr>
              <a:t>08 / 11</a:t>
            </a:r>
            <a:endParaRPr lang="zh-CN" sz="1000" b="0" dirty="0">
              <a:solidFill>
                <a:srgbClr val="8E9AA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5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Title"/>
          <p:cNvSpPr txBox="1"/>
          <p:nvPr/>
        </p:nvSpPr>
        <p:spPr>
          <a:xfrm>
            <a:off x="777240" y="585216"/>
            <a:ext cx="10607040" cy="77724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>
              <a:buNone/>
            </a:pPr>
            <a:r>
              <a:rPr lang="zh-CN" sz="3400" b="1" dirty="0">
                <a:solidFill>
                  <a:srgbClr val="F5F7FA"/>
                </a:solidFill>
                <a:latin typeface="微软雅黑" panose="020B0503020204020204" charset="-122"/>
                <a:ea typeface="微软雅黑" panose="020B0503020204020204" charset="-122"/>
              </a:rPr>
              <a:t>IsEqual 要同步走两条链，遇到 sublist 就递归</a:t>
            </a:r>
            <a:endParaRPr lang="zh-CN" sz="3400" b="1" dirty="0">
              <a:solidFill>
                <a:srgbClr val="F5F7F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9" name="Page number"/>
          <p:cNvSpPr txBox="1"/>
          <p:nvPr/>
        </p:nvSpPr>
        <p:spPr>
          <a:xfrm>
            <a:off x="10600000" y="6250000"/>
            <a:ext cx="1200000" cy="4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r">
              <a:buNone/>
            </a:pPr>
            <a:r>
              <a:rPr lang="zh-CN" sz="1000" b="0" dirty="0">
                <a:solidFill>
                  <a:srgbClr val="8E9AAA"/>
                </a:solidFill>
                <a:latin typeface="微软雅黑" panose="020B0503020204020204" charset="-122"/>
                <a:ea typeface="微软雅黑" panose="020B0503020204020204" charset="-122"/>
              </a:rPr>
              <a:t>09 / 11</a:t>
            </a:r>
            <a:endParaRPr lang="zh-CN" sz="1000" b="0" dirty="0">
              <a:solidFill>
                <a:srgbClr val="8E9AA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00" name="Slide image" descr="IsEqual 补充实现逐行标注：同步遍历、tag 与 data 比较、子表递归、收尾判断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693164"/>
            <a:ext cx="10607040" cy="4066032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5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Kicker"/>
          <p:cNvSpPr txBox="1"/>
          <p:nvPr/>
        </p:nvSpPr>
        <p:spPr>
          <a:xfrm>
            <a:off x="900000" y="420000"/>
            <a:ext cx="10000000" cy="42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>
              <a:buNone/>
            </a:pPr>
            <a:r>
              <a:rPr lang="zh-CN" sz="1400" b="1" dirty="0">
                <a:solidFill>
                  <a:srgbClr val="2F6BFF"/>
                </a:solidFill>
                <a:latin typeface="微软雅黑" panose="020B0503020204020204" charset="-122"/>
                <a:ea typeface="微软雅黑" panose="020B0503020204020204" charset="-122"/>
              </a:rPr>
              <a:t>边界</a:t>
            </a:r>
            <a:endParaRPr lang="zh-CN" sz="1400" b="1" dirty="0">
              <a:solidFill>
                <a:srgbClr val="2F6B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2" name="Title"/>
          <p:cNvSpPr txBox="1"/>
          <p:nvPr/>
        </p:nvSpPr>
        <p:spPr>
          <a:xfrm>
            <a:off x="900000" y="920000"/>
            <a:ext cx="10300000" cy="8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>
              <a:buNone/>
            </a:pPr>
            <a:r>
              <a:rPr lang="zh-CN" sz="3400" b="1" dirty="0">
                <a:solidFill>
                  <a:srgbClr val="F5F7FA"/>
                </a:solidFill>
                <a:latin typeface="微软雅黑" panose="020B0503020204020204" charset="-122"/>
                <a:ea typeface="微软雅黑" panose="020B0503020204020204" charset="-122"/>
              </a:rPr>
              <a:t>结构很省，但边界和资源管理要自己兜底</a:t>
            </a:r>
            <a:endParaRPr lang="zh-CN" sz="3400" b="1" dirty="0">
              <a:solidFill>
                <a:srgbClr val="F5F7F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3" name="Body"/>
          <p:cNvSpPr txBox="1"/>
          <p:nvPr/>
        </p:nvSpPr>
        <p:spPr>
          <a:xfrm>
            <a:off x="1050000" y="1850000"/>
            <a:ext cx="10100000" cy="45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F5F7FA"/>
                </a:solidFill>
                <a:latin typeface="微软雅黑" panose="020B0503020204020204" charset="-122"/>
                <a:ea typeface="微软雅黑" panose="020B0503020204020204" charset="-122"/>
              </a:rPr>
              <a:t>0 既表示原子，又让空子表无法编码</a:t>
            </a:r>
            <a:endParaRPr lang="zh-CN" sz="2000" b="0" dirty="0">
              <a:solidFill>
                <a:srgbClr val="F5F7F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F5F7FA"/>
                </a:solidFill>
                <a:latin typeface="微软雅黑" panose="020B0503020204020204" charset="-122"/>
                <a:ea typeface="微软雅黑" panose="020B0503020204020204" charset="-122"/>
              </a:rPr>
              <a:t>malloc 与 scanf 未检查，异常输入会出错</a:t>
            </a:r>
            <a:endParaRPr lang="zh-CN" sz="2000" b="0" dirty="0">
              <a:solidFill>
                <a:srgbClr val="F5F7F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F5F7FA"/>
                </a:solidFill>
                <a:latin typeface="微软雅黑" panose="020B0503020204020204" charset="-122"/>
                <a:ea typeface="微软雅黑" panose="020B0503020204020204" charset="-122"/>
              </a:rPr>
              <a:t>只建链不释放，结束前应 FreeList</a:t>
            </a:r>
            <a:endParaRPr lang="zh-CN" sz="2000" b="0" dirty="0">
              <a:solidFill>
                <a:srgbClr val="F5F7F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F5F7FA"/>
                </a:solidFill>
                <a:latin typeface="微软雅黑" panose="020B0503020204020204" charset="-122"/>
                <a:ea typeface="微软雅黑" panose="020B0503020204020204" charset="-122"/>
              </a:rPr>
              <a:t>递归深度等于嵌套层数，深表会压栈</a:t>
            </a:r>
            <a:endParaRPr lang="zh-CN" sz="2000" b="0" dirty="0">
              <a:solidFill>
                <a:srgbClr val="F5F7F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F5F7FA"/>
                </a:solidFill>
                <a:latin typeface="微软雅黑" panose="020B0503020204020204" charset="-122"/>
                <a:ea typeface="微软雅黑" panose="020B0503020204020204" charset="-122"/>
              </a:rPr>
              <a:t>构建与判等均为 O(结点总数)</a:t>
            </a:r>
            <a:endParaRPr lang="zh-CN" sz="2000" b="0" dirty="0">
              <a:solidFill>
                <a:srgbClr val="F5F7F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9" name="Page number"/>
          <p:cNvSpPr txBox="1"/>
          <p:nvPr/>
        </p:nvSpPr>
        <p:spPr>
          <a:xfrm>
            <a:off x="10600000" y="6250000"/>
            <a:ext cx="1200000" cy="4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r">
              <a:buNone/>
            </a:pPr>
            <a:r>
              <a:rPr lang="zh-CN" sz="1000" b="0" dirty="0">
                <a:solidFill>
                  <a:srgbClr val="8E9AAA"/>
                </a:solidFill>
                <a:latin typeface="微软雅黑" panose="020B0503020204020204" charset="-122"/>
                <a:ea typeface="微软雅黑" panose="020B0503020204020204" charset="-122"/>
              </a:rPr>
              <a:t>10 / 11</a:t>
            </a:r>
            <a:endParaRPr lang="zh-CN" sz="1000" b="0" dirty="0">
              <a:solidFill>
                <a:srgbClr val="8E9AA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5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Title"/>
          <p:cNvSpPr txBox="1"/>
          <p:nvPr/>
        </p:nvSpPr>
        <p:spPr>
          <a:xfrm>
            <a:off x="1050000" y="2300000"/>
            <a:ext cx="10200000" cy="17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ctr">
              <a:buNone/>
            </a:pPr>
            <a:r>
              <a:rPr lang="zh-CN" sz="5200" b="1" dirty="0">
                <a:solidFill>
                  <a:srgbClr val="F5F7FA"/>
                </a:solidFill>
                <a:latin typeface="微软雅黑" panose="020B0503020204020204" charset="-122"/>
                <a:ea typeface="微软雅黑" panose="020B0503020204020204" charset="-122"/>
              </a:rPr>
              <a:t>补上 IsEqual，程序才完整</a:t>
            </a:r>
            <a:endParaRPr lang="zh-CN" sz="5200" b="1" dirty="0">
              <a:solidFill>
                <a:srgbClr val="F5F7F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2" name="Subtitle"/>
          <p:cNvSpPr txBox="1"/>
          <p:nvPr/>
        </p:nvSpPr>
        <p:spPr>
          <a:xfrm>
            <a:off x="1050000" y="4200000"/>
            <a:ext cx="10200000" cy="9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ctr">
              <a:buNone/>
            </a:pPr>
            <a:r>
              <a:rPr lang="zh-CN" sz="2000" b="1" dirty="0">
                <a:solidFill>
                  <a:srgbClr val="2F6BFF"/>
                </a:solidFill>
                <a:latin typeface="微软雅黑" panose="020B0503020204020204" charset="-122"/>
                <a:ea typeface="微软雅黑" panose="020B0503020204020204" charset="-122"/>
              </a:rPr>
              <a:t>补全函数 → 编译 → 相等得 true，改一个 data 得 false。</a:t>
            </a:r>
            <a:endParaRPr lang="zh-CN" sz="2000" b="1" dirty="0">
              <a:solidFill>
                <a:srgbClr val="2F6B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9" name="Page number"/>
          <p:cNvSpPr txBox="1"/>
          <p:nvPr/>
        </p:nvSpPr>
        <p:spPr>
          <a:xfrm>
            <a:off x="10600000" y="6250000"/>
            <a:ext cx="1200000" cy="4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r">
              <a:buNone/>
            </a:pPr>
            <a:r>
              <a:rPr lang="zh-CN" sz="1000" b="0" dirty="0">
                <a:solidFill>
                  <a:srgbClr val="8E9AAA"/>
                </a:solidFill>
                <a:latin typeface="微软雅黑" panose="020B0503020204020204" charset="-122"/>
                <a:ea typeface="微软雅黑" panose="020B0503020204020204" charset="-122"/>
              </a:rPr>
              <a:t>11 / 11</a:t>
            </a:r>
            <a:endParaRPr lang="zh-CN" sz="1000" b="0" dirty="0">
              <a:solidFill>
                <a:srgbClr val="8E9AA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dsh-ppt Swiss Pulse">
  <a:themeElements>
    <a:clrScheme name="dsh-ppt">
      <a:dk1>
        <a:srgbClr val="F5F7FA"/>
      </a:dk1>
      <a:lt1>
        <a:srgbClr val="10151B"/>
      </a:lt1>
      <a:dk2>
        <a:srgbClr val="8E9AAA"/>
      </a:dk2>
      <a:lt2>
        <a:srgbClr val="161D26"/>
      </a:lt2>
      <a:accent1>
        <a:srgbClr val="2F6BFF"/>
      </a:accent1>
      <a:accent2>
        <a:srgbClr val="FFB300"/>
      </a:accent2>
      <a:accent3>
        <a:srgbClr val="F5F7FA"/>
      </a:accent3>
      <a:accent4>
        <a:srgbClr val="8E9AAA"/>
      </a:accent4>
      <a:accent5>
        <a:srgbClr val="2F6BFF"/>
      </a:accent5>
      <a:accent6>
        <a:srgbClr val="FFB300"/>
      </a:accent6>
      <a:hlink>
        <a:srgbClr val="2F6BFF"/>
      </a:hlink>
      <a:folHlink>
        <a:srgbClr val="FFB300"/>
      </a:folHlink>
    </a:clrScheme>
    <a:fontScheme name="dsh-ppt">
      <a:majorFont>
        <a:latin typeface="Microsoft YaHei"/>
        <a:ea typeface="Microsoft YaHei"/>
        <a:cs typeface=""/>
      </a:majorFont>
      <a:minorFont>
        <a:latin typeface="Microsoft YaHei"/>
        <a:ea typeface="Microsoft YaHei"/>
        <a:cs typeface=""/>
      </a:minorFont>
    </a:fontScheme>
    <a:fmtScheme name="dsh-ppt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dsh-ppt Swiss Pulse">
  <a:themeElements>
    <a:clrScheme name="dsh-ppt">
      <a:dk1>
        <a:srgbClr val="F5F7FA"/>
      </a:dk1>
      <a:lt1>
        <a:srgbClr val="10151B"/>
      </a:lt1>
      <a:dk2>
        <a:srgbClr val="8E9AAA"/>
      </a:dk2>
      <a:lt2>
        <a:srgbClr val="161D26"/>
      </a:lt2>
      <a:accent1>
        <a:srgbClr val="2F6BFF"/>
      </a:accent1>
      <a:accent2>
        <a:srgbClr val="FFB300"/>
      </a:accent2>
      <a:accent3>
        <a:srgbClr val="F5F7FA"/>
      </a:accent3>
      <a:accent4>
        <a:srgbClr val="8E9AAA"/>
      </a:accent4>
      <a:accent5>
        <a:srgbClr val="2F6BFF"/>
      </a:accent5>
      <a:accent6>
        <a:srgbClr val="FFB300"/>
      </a:accent6>
      <a:hlink>
        <a:srgbClr val="2F6BFF"/>
      </a:hlink>
      <a:folHlink>
        <a:srgbClr val="FFB300"/>
      </a:folHlink>
    </a:clrScheme>
    <a:fontScheme name="dsh-ppt">
      <a:majorFont>
        <a:latin typeface="Microsoft YaHei"/>
        <a:ea typeface="Microsoft YaHei"/>
        <a:cs typeface=""/>
      </a:majorFont>
      <a:minorFont>
        <a:latin typeface="Microsoft YaHei"/>
        <a:ea typeface="Microsoft YaHei"/>
        <a:cs typeface=""/>
      </a:minorFont>
    </a:fontScheme>
    <a:fmtScheme name="dsh-ppt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700</Words>
  <Application>WPS 演示</Application>
  <PresentationFormat>Widescreen</PresentationFormat>
  <Paragraphs>103</Paragraphs>
  <Slides>11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8" baseType="lpstr">
      <vt:lpstr>Arial</vt:lpstr>
      <vt:lpstr>宋体</vt:lpstr>
      <vt:lpstr>Wingdings</vt:lpstr>
      <vt:lpstr>微软雅黑</vt:lpstr>
      <vt:lpstr>Arial</vt:lpstr>
      <vt:lpstr>Arial Unicode MS</vt:lpstr>
      <vt:lpstr>dsh-ppt Swiss Pulse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把广义表压进一条链</dc:title>
  <dc:creator>dsh-ppt</dc:creator>
  <cp:lastModifiedBy>CHRIS ·CHEN</cp:lastModifiedBy>
  <cp:revision>1</cp:revision>
  <dcterms:created xsi:type="dcterms:W3CDTF">2026-10-21T02:48:26Z</dcterms:created>
  <dcterms:modified xsi:type="dcterms:W3CDTF">2026-10-21T02:48:26Z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2052-12.1.0.29161</vt:lpwstr>
  </property>
  <property fmtid="{D5CDD505-2E9C-101B-9397-08002B2CF9AE}" pid="3" name="ICV">
    <vt:lpwstr>A734F1D5F39F4C26A88B50EDC33026F7_12</vt:lpwstr>
  </property>
</Properties>
</file>